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af9b00aac44a1" /><Relationship Type="http://schemas.openxmlformats.org/officeDocument/2006/relationships/extended-properties" Target="/docProps/app.xml" Id="R02cdf9172598405c" /><Relationship Type="http://schemas.openxmlformats.org/officeDocument/2006/relationships/officeDocument" Target="/ppt/presentation.xml" Id="Rbf4dcd972973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a36c52e30a4f69"/>
  </p:sldMasterIdLst>
  <p:notesMasterIdLst>
    <p:notesMasterId xmlns:r="http://schemas.openxmlformats.org/officeDocument/2006/relationships" r:id="R56ab14b1dc1f4632"/>
  </p:notesMasterIdLst>
  <p:sldIdLst>
    <p:sldId xmlns:r="http://schemas.openxmlformats.org/officeDocument/2006/relationships" id="256" r:id="R44b9b313614c4a6a"/>
    <p:sldId xmlns:r="http://schemas.openxmlformats.org/officeDocument/2006/relationships" id="257" r:id="R6499046bc8bb44ba"/>
    <p:sldId xmlns:r="http://schemas.openxmlformats.org/officeDocument/2006/relationships" id="258" r:id="R3129c686f7494f66"/>
    <p:sldId xmlns:r="http://schemas.openxmlformats.org/officeDocument/2006/relationships" id="259" r:id="R27a6e37a9f50478f"/>
    <p:sldId xmlns:r="http://schemas.openxmlformats.org/officeDocument/2006/relationships" id="260" r:id="R48821e1395c6447a"/>
    <p:sldId xmlns:r="http://schemas.openxmlformats.org/officeDocument/2006/relationships" id="261" r:id="R7708ab2f86e14054"/>
    <p:sldId xmlns:r="http://schemas.openxmlformats.org/officeDocument/2006/relationships" id="262" r:id="R1ea40ac8cf1e4a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b90021b2d4cf4" /><Relationship Type="http://schemas.openxmlformats.org/officeDocument/2006/relationships/slideMaster" Target="/ppt/slideMasters/slideMaster1.xml" Id="Rc8a36c52e30a4f69" /><Relationship Type="http://schemas.openxmlformats.org/officeDocument/2006/relationships/notesMaster" Target="/ppt/notesMasters/notesMaster1.xml" Id="R56ab14b1dc1f4632" /><Relationship Type="http://schemas.openxmlformats.org/officeDocument/2006/relationships/presProps" Target="/ppt/presProps.xml" Id="R0b3c57f1bdf748b5" /><Relationship Type="http://schemas.openxmlformats.org/officeDocument/2006/relationships/viewProps" Target="/ppt/viewProps.xml" Id="R1d3ffacd89a1493a" /><Relationship Type="http://schemas.openxmlformats.org/officeDocument/2006/relationships/tableStyles" Target="/ppt/tableStyles.xml" Id="R19b862d4c7564084" /><Relationship Type="http://schemas.openxmlformats.org/officeDocument/2006/relationships/slide" Target="/ppt/slides/slide1.xml" Id="R44b9b313614c4a6a" /><Relationship Type="http://schemas.openxmlformats.org/officeDocument/2006/relationships/slide" Target="/ppt/slides/slide2.xml" Id="R6499046bc8bb44ba" /><Relationship Type="http://schemas.openxmlformats.org/officeDocument/2006/relationships/slide" Target="/ppt/slides/slide3.xml" Id="R3129c686f7494f66" /><Relationship Type="http://schemas.openxmlformats.org/officeDocument/2006/relationships/slide" Target="/ppt/slides/slide4.xml" Id="R27a6e37a9f50478f" /><Relationship Type="http://schemas.openxmlformats.org/officeDocument/2006/relationships/slide" Target="/ppt/slides/slide5.xml" Id="R48821e1395c6447a" /><Relationship Type="http://schemas.openxmlformats.org/officeDocument/2006/relationships/slide" Target="/ppt/slides/slide6.xml" Id="R7708ab2f86e14054" /><Relationship Type="http://schemas.openxmlformats.org/officeDocument/2006/relationships/slide" Target="/ppt/slides/slide7.xml" Id="R1ea40ac8cf1e4a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fe287283e45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05b0c77754443" /><Relationship Type="http://schemas.openxmlformats.org/officeDocument/2006/relationships/notesMaster" Target="/ppt/notesMasters/notesMaster1.xml" Id="Ra9a9c945f76d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b5e5926e040b3" /><Relationship Type="http://schemas.openxmlformats.org/officeDocument/2006/relationships/notesMaster" Target="/ppt/notesMasters/notesMaster1.xml" Id="R1b837bf2fd9f4b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39db5e0994e00" /><Relationship Type="http://schemas.openxmlformats.org/officeDocument/2006/relationships/notesMaster" Target="/ppt/notesMasters/notesMaster1.xml" Id="R8f92aa2a100147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c9078ae1744d3" /><Relationship Type="http://schemas.openxmlformats.org/officeDocument/2006/relationships/notesMaster" Target="/ppt/notesMasters/notesMaster1.xml" Id="R8aa37c9ba9f9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4e41c23308475c" /><Relationship Type="http://schemas.openxmlformats.org/officeDocument/2006/relationships/notesMaster" Target="/ppt/notesMasters/notesMaster1.xml" Id="R6fbba106f716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1f8bfd8564fb3" /><Relationship Type="http://schemas.openxmlformats.org/officeDocument/2006/relationships/notesMaster" Target="/ppt/notesMasters/notesMaster1.xml" Id="R3b2f6a837a5a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e2b09e7524a56" /><Relationship Type="http://schemas.openxmlformats.org/officeDocument/2006/relationships/notesMaster" Target="/ppt/notesMasters/notesMaster1.xml" Id="R274e2d4ace3847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cf6f0b14e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15408d9f1431e" /><Relationship Type="http://schemas.openxmlformats.org/officeDocument/2006/relationships/slideLayout" Target="/ppt/slideLayouts/slideLayout1.xml" Id="R10898aee9776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98aee9776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dc4355f2c494b" /><Relationship Type="http://schemas.openxmlformats.org/officeDocument/2006/relationships/image" Target="/ppt/media/image.png" Id="Re7bbd3837c1f43ea" /><Relationship Type="http://schemas.openxmlformats.org/officeDocument/2006/relationships/notesSlide" Target="/ppt/notesSlides/notesSlide1.xml" Id="R6ca98bc601dd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6b5268ed44123" /><Relationship Type="http://schemas.openxmlformats.org/officeDocument/2006/relationships/notesSlide" Target="/ppt/notesSlides/notesSlide2.xml" Id="R1ab11f4eff824b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00c6e35dd49e1" /><Relationship Type="http://schemas.openxmlformats.org/officeDocument/2006/relationships/notesSlide" Target="/ppt/notesSlides/notesSlide3.xml" Id="Re6cd635eefe4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59ffc1827484e" /><Relationship Type="http://schemas.openxmlformats.org/officeDocument/2006/relationships/notesSlide" Target="/ppt/notesSlides/notesSlide4.xml" Id="R91d776b41969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7ee1008cf473c" /><Relationship Type="http://schemas.openxmlformats.org/officeDocument/2006/relationships/notesSlide" Target="/ppt/notesSlides/notesSlide5.xml" Id="R2fa1b741c4854f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89f403a224e8f" /><Relationship Type="http://schemas.openxmlformats.org/officeDocument/2006/relationships/notesSlide" Target="/ppt/notesSlides/notesSlide6.xml" Id="R04f51f01ae5547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c1de532354cfb" /><Relationship Type="http://schemas.openxmlformats.org/officeDocument/2006/relationships/notesSlide" Target="/ppt/notesSlides/notesSlide7.xml" Id="R811310af52674a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8CF53-A943-4972-8384-6295515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88C8D-85D6-4B92-A446-AFE74EA5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8C1A7-14B7-4606-8718-43744DD8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INTEGRATED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FA2F4-5D0F-47FD-85DA-48C063B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The robot factory is a compact demonstrator of the course concepts.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80C72-F285-4321-AEF2-447E21A6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E27FD-2180-4994-AFE9-7D55283C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bd3837c1f43ea"/>
          <a:srcRect xmlns:a="http://schemas.openxmlformats.org/drawingml/2006/main" l="2455" t="0" r="2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676275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3786-71EA-4252-AC97-9B86B9E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B54D1-515E-4959-BD42-F7231B2C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714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218F8-47BB-4E43-A942-E3419453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CE488-B1FE-414B-9503-8401629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Course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1DEE4-2F95-494F-BC23-89E52E7C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A7DB0-7609-4E91-93A2-9E0A11C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Hierarchical robot arms and technician use parent-child transforms.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03180-D938-4DBB-A308-2159D26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A2831-EBB4-4D29-B82D-BB240E3C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Procedural textures, UV mapping, materials, lights, and shadows are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54B4A-56ED-4D13-A6A1-5BF4B907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744F9-7BD4-4C19-A8F8-593C2DE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Animations are authored in JavaScript: keyframes, loops, and simulation.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99855-9350-4797-9F81-48683343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5FEEA-A5AA-4868-A972-4E6AF89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New mesh and spring stations make triangle/physics lessons explicit.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2F527-9B10-488C-8762-05C964D9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FA7E1-BFE6-4883-8DB3-3249956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User controls expose viewpoint, lighting, machine, drone, and walk-mode interaction.</a:t>
            </a:r>
          </a:p>
        </p:txBody>
      </p:sp>
    </p:spTree>
    <p:extLst>
      <p:ext uri="{BB962C8B-B14F-4D97-AF65-F5344CB8AC3E}">
        <p14:creationId xmlns:p14="http://schemas.microsoft.com/office/powerpoint/2010/main" val="490267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AC100-D815-4223-8AD7-D734D393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0D0DB-DB4B-4D1D-ADE2-88CC0EC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EE71-6DC0-45AC-933D-2AC904D0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CONCEPT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5627A-7C62-419D-86CC-86A4FFBE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Almost every practical slide topic now has a visible project artifact.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56AC4-FFBA-411F-B21E-1A3A3283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84DC8-525B-438E-940B-D93771A0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4B4B1-73B3-47F9-B44B-75A04A29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D29BE-74C8-42CF-B9B8-05CF589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1371A-8CDD-46BE-9D51-DF2797AB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Geometry and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A07EC-8A5A-4017-A816-34DCE67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3D transformations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624B1-6F9C-48B5-BB9C-663E900E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146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Robot joints, doors, cameras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7BF87-93E4-4C70-8E47-8E7A03B6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7D488-E61D-47AE-894F-02C5194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Cameras/projection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D2FD3-D83D-44E0-B018-84292FC4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Perspective camera, presets, walk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5841F-12AD-49A3-B95C-2D872C8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67DBD-2575-4AC9-8133-72EC861E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Surfaces/meshes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FB864-E97C-4B0E-9A8D-58B1599E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2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Primitives plus manual BufferGeometry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0B508-81E4-473C-806C-D6928CC3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B6BD4-99FC-49BC-86A7-5A5C8AC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Triangle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C195D-34AF-4698-BBC0-9842626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863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Positions, UVs, indices, normals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14884-14DC-4E0B-9EB3-51FB3A3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3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8B6F6-59B7-4CDB-8349-4C37ED8F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F8C95-1472-4716-88E2-FADF026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Rendering and Materials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61D41-65D2-4F3B-9BEA-F9B9ED9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GPU/WebGL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72850-0E1D-40BD-8092-9390BA43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Three.js renderer and canvas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0E3A7-A100-4761-BAF7-1ED51B0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DF2AF-05D7-4E2C-AF5F-00841318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Textures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582D8-0D39-4D8E-A9DA-4E39F889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CanvasTexture, repeat wrapping, offsets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91A12-9827-47D1-BF64-E3232532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2AB94-34CE-4579-949B-790A09E2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Shading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93B78-BCFB-4642-B379-2360996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Standard, Physical, custom ShaderMaterial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F3C95-38B9-4147-96F0-40455F31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58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9E9C8-7D84-4667-BD99-0922991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Shadows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BA23C2-C52C-483C-9EAB-3FD4DDB6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863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PCF soft shadow maps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2DDB52-60CA-41E7-9DE9-61A798F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B1143-3861-4A73-AA73-7293CDB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4CE33C-1494-4597-B368-95D2EFC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Motion and Systems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C8882-267F-4EA7-9CBF-6D0C38D8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Keyframes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A6FB2-716B-437F-865E-9734760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Robot pick/place poses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0F7FA-8067-4197-BCC2-B3BCA63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BEF323-4001-4B8F-97F7-89D3DCE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Procedural animation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6FAE88-48F4-4BC8-8675-966A973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Drone, AGV, belt, scanner, doors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E2CA14-178B-42AC-AD7F-93862A2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BB7A2E-0355-4C23-8997-D026D1FA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Physics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FDE276-7974-4204-B8EC-329270E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624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Mass-spring cable with Euler integration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403F58-2757-4B07-AC57-5A2A8A71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850"/>
          </a:solidFill>
          <a:ln xmlns:a="http://schemas.openxmlformats.org/drawingml/2006/main" w="0">
            <a:solidFill>
              <a:srgbClr val="3248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397C3E-F5CD-48FF-8E25-F6810B41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24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C2B1C1-E2CC-4FB5-B32A-3F56028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863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Toggles, speed, room map, orbit/walk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01C968-AA65-4EE4-9FEB-86BC389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Presentation strategy: name the class concept first, then point to the exact object or code path in the factory.</a:t>
            </a:r>
          </a:p>
        </p:txBody>
      </p:sp>
    </p:spTree>
    <p:extLst>
      <p:ext uri="{BB962C8B-B14F-4D97-AF65-F5344CB8AC3E}">
        <p14:creationId xmlns:p14="http://schemas.microsoft.com/office/powerpoint/2010/main" val="610470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9787A-3A53-440C-9890-C83D3D30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A653D-C464-45E3-AC1F-DC11D00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A4F86-3A41-461F-A0F5-F70F9C94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TRANSFORM HIERARCHY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4A238-A633-4882-A9C0-AFE7AE5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The main models animate by moving parents, children, and local pivots.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50F3E-9CA1-4997-9FA6-0B4B189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1A0CE-EEEC-49F5-8D23-1CB0A46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842B2-7974-4517-9A32-DE1EFFD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36808-C0C5-442A-BABC-0684708F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6EE2B-225B-42A8-B21E-84E3ECC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Robot arm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8653E-DC9E-4080-8519-C5577669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1A9B-583E-46D6-BE71-2399C45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032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robot root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1E671-D0C0-4B86-9A0D-9691D72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C04C0-B01A-46FE-A947-D600EEC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6353F-7EA5-4EC4-BE06-7E942D1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85C44-DE45-4B59-A297-82AE953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51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waistPivot rotation.y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2AB0-48F6-48B1-B3F9-7CC558AE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DA54F-3F4A-4C61-9627-5073FE73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3D796-C259-4A5A-9483-0ECE675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B8893-7E52-48D7-A246-68239432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002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shoulderPivot rotation.z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13F03-22E1-4469-BF4C-E94B796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A95F6-6EEB-41F5-837E-BAB49D7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4AFE8-1FDB-45B7-B2F0-C3F049D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ECCA1-34B2-42E1-8F21-3502B0FA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148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elbow -&gt; wrist -&gt; gripper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FB17D-1D08-444A-87F2-A61B15F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Keyframe poses interpolate waist, shoulder, elbow, wrist, and claw offsets.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8F6AB-2C5B-43AC-9031-37FE0BD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48150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The object transfer is synchronized with the robot cycle.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8D189-4B65-40D9-A537-44E5790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FCC35-6DCB-432B-9131-BAA452D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2A880-186B-439E-A426-3FDCE098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Technician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57707C-82E8-4E56-85BF-36C3040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2BB18-1DA2-4050-A483-BD5A5D4D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technician root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28497-ECB8-4E66-967A-9D00AAD7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BCC26-F477-4464-8BF1-30BED01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1ECCE-77C7-49E9-953F-F25A68B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F019B6-4EC4-495A-81A3-2F4D0A80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051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body group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B94430-9BCD-4914-B17B-B1FAC969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1DDB8-873A-4E60-A3C3-ADB1B62F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86AAAF-F217-4C69-BBCA-8A06E32B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81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C9D3F-4705-40CF-8D14-D0B3088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head, arms, legs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FCB02D-A23B-4892-A699-49EA97BC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815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F7C9BC-9A1F-4606-896A-C181F1F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48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5D3046-C724-4A70-A4ED-EC05462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86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9"/>
          </a:solidFill>
          <a:ln xmlns:a="http://schemas.openxmlformats.org/drawingml/2006/main" w="9525">
            <a:solidFill>
              <a:srgbClr val="5D747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2C45E-756A-4C4F-A068-14A6CD6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tablet and accessories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4CD525-9399-4EF9-8DD6-4D092E9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Idle motion updates head, arm, leg, and tablet rotations.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9DF7A7-F991-4339-A218-DBBDEEDD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131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This mirrors skeletal animation ideas without importing a model.</a:t>
            </a:r>
          </a:p>
        </p:txBody>
      </p:sp>
    </p:spTree>
    <p:extLst>
      <p:ext uri="{BB962C8B-B14F-4D97-AF65-F5344CB8AC3E}">
        <p14:creationId xmlns:p14="http://schemas.microsoft.com/office/powerpoint/2010/main" val="608618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243DC-28A8-445A-97EE-86F00EC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ED80F-BD0C-46F3-B30B-A7A9E456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59BDD-DEEF-415C-9DF1-6FD3C37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TEXTURE AND SHADING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69428-D39A-43D5-9F6F-1E7608F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The visual system uses course texture, material, light, and shader ideas directly.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708AC-05E3-49D5-A01E-6B5B040C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9CFC9-DD3D-4ABB-A555-DCDE766B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2D90E-F73A-4E76-B96E-672EAB4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7C209-7643-4989-9CE5-88F750C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CPU / 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788CA-047F-47CB-B0CF-C93E6DB3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D18AF-3D3F-4BCF-864C-25D9022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GPU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CCEFA-91B1-4D74-8453-ED9B21BE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2B2A5-85E9-4FD7-8F47-9732DEF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Rendered 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8B42F-B223-45F5-A4FA-4A1FC383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6FBC6-3B36-423B-B3EB-53BCEFB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Canvas textures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1B9B-B29C-4891-8354-99293E8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Checker, stripe, panel, hazard, label, fabric, skin, helmet, scuff and bump maps are generated in JavaScript.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482EB-51A9-460B-95B3-D0D0456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D5A0E-3790-4753-8C02-80C02B6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955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Texture 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BBCB6-6A92-4901-AC55-47129B0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UVs and repeat wrapping map generated rasters onto floor, wall, belt, labels, and the custom mesh.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93B8-1548-4702-B5CB-C6E972C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95099-6ECA-4A5A-BCB9-9474127F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D0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D0A5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EBE89-DDC9-4D93-B0C8-440892E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MeshStandard and MeshPhysical encode roughness, metalness, glass opacity, emissive indicators, and rubber.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A1863-FEB1-4807-91AF-EA9B5595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20E0F-B6D7-4648-8A78-24F40569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Lights and shadows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C0D0B-5F5E-494F-850C-A1796119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Hemisphere, directional, point, and spot lights feed soft shadow-mapped real-time rasterization.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44B82-9A0B-4E6A-A493-9A5B3EE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9F0D7-B82B-4AE5-850A-03ECCB5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B0CB5-1CD1-4239-B5F2-2DA8B86D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56CE2-1D98-4296-90ED-AA58C76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971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64337-1304-4644-A19D-EE1859F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Custom shader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C53D7-3BF2-4604-9AF6-1241CC39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671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The operator jacket ShaderMaterial samples a fabric texture, computes a diffuse term from a light direction, and adds a rim term from the view direction.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D83D1-C414-41BD-9D38-145E179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671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This is the clearest place to mention vertex/fragment shader logic from the WebGL and shading slides.</a:t>
            </a:r>
          </a:p>
        </p:txBody>
      </p:sp>
    </p:spTree>
    <p:extLst>
      <p:ext uri="{BB962C8B-B14F-4D97-AF65-F5344CB8AC3E}">
        <p14:creationId xmlns:p14="http://schemas.microsoft.com/office/powerpoint/2010/main" val="17658405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882E4-D6D5-4F43-851F-822F96F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2E92B-F109-48DB-8417-C5EED3FB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9CF08-546C-4748-8289-EAED6EF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NEW EXPLICIT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2356A-D15C-4A7D-979E-80C3C18F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The latest additions make triangle meshes, normals, and physics simulation easy to point 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8D33A-74B9-466D-90FD-C8EE5E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395F-7AF8-4700-9B45-70FC28B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EB03E-1E95-4E01-B4FD-9E688EF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048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3FFB4-F026-46FC-BAC9-B381A90D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880DC-D49B-4043-9E04-48E3094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TRI MESH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3B4BA-C246-4728-BF28-E10D873D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Manual BufferGeometry exhibit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39D0F-08BA-47B0-A07B-48208A18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The table uses explicit position, UV, and index buffers, then calls computeVertexNormals().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3AA18-E09D-495F-B436-4D053C63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4182A-A61C-4534-86F0-05D5C2A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D0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D0A5"/>
                </a:solidFill>
                <a:latin typeface="Aptos"/>
                <a:ea typeface="Aptos"/>
                <a:cs typeface="Aptos"/>
              </a:rPr>
              <a:t>uv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8FAC0-FA4A-49E3-BDBB-F6CA69C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FA4FC-2486-44E1-B07E-7F36F11A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6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65C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2DCB4-78A9-4B0C-A10D-EA2A9C51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3BEDA-57CF-4F7C-9FDD-D62F9823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48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E8C13-C9B3-4649-8295-94E4EEE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148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E2667-1685-4D73-A8DD-74C2EEF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00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6B4F9-1CCB-47F4-AB2E-F4584ED4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48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77647-DD3C-46BB-8A43-CBE6175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148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5D14F-B4DC-4B21-B752-18BD4BB1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00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FC6C3-5DC3-48F7-9F15-107DCEC7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148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8D784-B21D-4743-8637-4DB2B9F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04028-3AEC-463F-AB0B-1D8F071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2E9C4-6328-4C41-92DB-AE2F4A59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577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9B326-747B-413B-ADC2-70F2C75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D80DC-DCC5-4998-B208-3CF1EFE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910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AEE97-48FC-4EE2-A02F-819DA5E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577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C8D02-C3BE-4F62-B907-2CF32C8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AFF98-0B1B-403B-AE08-EBE62FC2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577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31152-0E68-4C82-BCBB-081A9B4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6DD1E-A433-47D1-A43C-C0A769E0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33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44F6D-E784-4882-8DB7-FEB4C62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F4CEC-18BC-4AF7-9630-7938858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33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48BE59-BEB8-41FC-AEA7-797D8C0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81D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61D228-6320-42CB-8C8D-9FB3572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2435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Wireframe and normal rods make the hidden mesh data visible in the scene.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667A41-A892-4853-845B-095B7EC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048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FF6489-DFA6-4C8D-B0F3-F0235C5B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F5DB1-0255-4C0D-A705-7242B6E4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SPRING SIM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CB33B3-6B0E-4A0D-B1F8-48B6D21B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Physics-based cable animation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9C157C-2866-4885-A4C0-11887198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Each particle stores position and velocity; forces update every frame.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D5E0F9-5FDA-4E96-87EF-145B5A0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29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151F66-7591-4ED5-B74A-D73151B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971925"/>
            <a:ext cx="1763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53C252-3F51-4F2B-BA75-0C6AA2B2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30" y="4133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F94B52-EE75-4CCE-952E-67D6A416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805" y="4276725"/>
            <a:ext cx="142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262F78-062C-47B9-836F-A8F63BD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43" y="4438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CC21F3-56AE-4800-9ECE-0DFCC94C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018" y="4581525"/>
            <a:ext cx="-1609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52CC21-8EFC-4484-9E34-B970B2E0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372" y="47434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51CB03-7E50-41A2-83B2-944DFC59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047" y="4886325"/>
            <a:ext cx="-1881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677A15-D664-43CA-9013-068DABE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12" y="5048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100E49-3DFC-4A2F-987A-49769B5D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887" y="5191125"/>
            <a:ext cx="-4235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D04EB9-AA76-4A75-800C-82A90F8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857" y="5353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69930C-8E32-4537-9E8F-0F92375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gravity + wind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C65508-4215-4B60-B11E-136236C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D0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D0A5"/>
                </a:solidFill>
                <a:latin typeface="Aptos"/>
                <a:ea typeface="Aptos"/>
                <a:cs typeface="Aptos"/>
              </a:rPr>
              <a:t>spring force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2C50B8-443B-49D5-A083-F6F5156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damping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9E2E52-1DA4-481A-97C4-4DE4F6A5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6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65C"/>
                </a:solidFill>
                <a:latin typeface="Aptos"/>
                <a:ea typeface="Aptos"/>
                <a:cs typeface="Aptos"/>
              </a:rPr>
              <a:t>semi-implicit Euler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B8632C-9277-4B79-93CE-2C801C5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simple floor collision</a:t>
            </a:r>
          </a:p>
        </p:txBody>
      </p:sp>
    </p:spTree>
    <p:extLst>
      <p:ext uri="{BB962C8B-B14F-4D97-AF65-F5344CB8AC3E}">
        <p14:creationId xmlns:p14="http://schemas.microsoft.com/office/powerpoint/2010/main" val="1168113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22D3C-2605-4B40-807E-21581BF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6329D-5649-41DD-8561-D0652D23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C5D4B-99A9-4340-95D7-7422F57C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ANIMATION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A70A-713B-4EE5-9353-40D7FD7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The main loop separates global time, machine time, robot time, and simulation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0882-88E6-4CEC-B416-1176091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CBAF0-2A56-4598-B2BD-AB58EAE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6D7D8-6CBC-4D22-819B-FBAB260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048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E7F8C-305C-44AB-B542-ABC8116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5979D-BC1C-4161-AA88-AA79FF5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9A59B-2EAA-46D0-9C5D-4C1B83D6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4EBA4-7CF8-4BCF-BE25-B88FE75F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055AD-2462-48E3-A252-BAE3047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0s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A53C5-A4B1-41EC-BAEF-39A9AA2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E03A1-6B0E-4B0B-BCA3-B8CE9D1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2s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8DB69-FBCA-453F-B056-02398D8C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D72CD-5878-4478-B998-9AE09D44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4s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1A0C5-7119-4523-AA07-1F29C93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B5536-619A-4244-9948-79AE0FF5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6s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140A2-0F24-4416-A94A-0A19EAC9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0">
            <a:solidFill>
              <a:srgbClr val="8FA1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CC939-32DF-4096-BD5B-90CF423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8s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40423-BFD7-41A4-AECD-CBCC378A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FC3"/>
                </a:solidFill>
                <a:latin typeface="Aptos"/>
                <a:ea typeface="Aptos"/>
                <a:cs typeface="Aptos"/>
              </a:rPr>
              <a:t>robotElapsed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C863B-3030-4450-A17B-C27EBEE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Robot keyframes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27959-F02A-48FC-8AD2-128355DE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1AE6D-6B29-46A3-897D-DB1FDAC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FC3"/>
                </a:solidFill>
                <a:latin typeface="Aptos"/>
                <a:ea typeface="Aptos"/>
                <a:cs typeface="Aptos"/>
              </a:rPr>
              <a:t>machineElapsed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2A777-5AA9-41A8-89DB-921136B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Conveyor, scanner, press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EE65C-D4FF-44DB-8974-068CBEB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759F4-7301-40E2-B79D-5A0358E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FC3"/>
                </a:solidFill>
                <a:latin typeface="Aptos"/>
                <a:ea typeface="Aptos"/>
                <a:cs typeface="Aptos"/>
              </a:rPr>
              <a:t>machineElapsed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69DB4-8547-4217-9447-F4BBC2F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Drone patrol and cargo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E29CA-CB92-4818-87DC-8EA733C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DBFF"/>
          </a:solidFill>
          <a:ln xmlns:a="http://schemas.openxmlformats.org/drawingml/2006/main" w="9525">
            <a:solidFill>
              <a:srgbClr val="81D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96BED-D601-41BE-B4EE-0B12BB88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FC3"/>
                </a:solidFill>
                <a:latin typeface="Aptos"/>
                <a:ea typeface="Aptos"/>
                <a:cs typeface="Aptos"/>
              </a:rPr>
              <a:t>machineElapsed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AD434-B480-4EAF-B6A6-BE417B1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AGV load/drop route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25174-7067-4B77-A500-C415BD4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1A8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0CDC3-0508-4ED2-8617-0FF600B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FC3"/>
                </a:solidFill>
                <a:latin typeface="Aptos"/>
                <a:ea typeface="Aptos"/>
                <a:cs typeface="Aptos"/>
              </a:rPr>
              <a:t>elapsed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1C8B87-E87F-4772-B0B8-A6B09443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5ED"/>
                </a:solidFill>
                <a:latin typeface="Aptos"/>
                <a:ea typeface="Aptos"/>
                <a:cs typeface="Aptos"/>
              </a:rPr>
              <a:t>Technician idle and spring simulation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E47F3-15FF-4AF5-A40C-0FF27D4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9525">
            <a:solidFill>
              <a:srgbClr val="FF6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A2B932-7F14-470B-ADE0-A9C3CEC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E71B6-96C8-44B6-9ABC-6784A15B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5A140-02B4-41CA-B006-F836F0E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Update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CCAD8-E00E-47A2-B2F6-0E22F898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3F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B359BF-EF61-4456-A0C0-135BF42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812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clock.getDelta()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650A70-AFE1-44A8-BB29-859E77F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85A76D-846A-44D0-A19C-3D28811A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3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13D1B9-6A70-4A0B-973B-3E74E94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03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update state clocks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03C74-5686-4D36-A747-47A9A45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766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4507AB-19CE-4A10-A449-81BBFBA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3F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176EF1-6BC1-4C32-A405-C5FDC09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194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animateRobot()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7F68F1-3F22-46AC-9FB4-F6BFA29D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957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012100-BECF-4AA2-8B9B-F71AEE8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3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BD919B-B793-4CF1-B4D3-6468F7A8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385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move production systems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4B5592-BC1F-44C3-8E01-90E361E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148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728CEB-EC95-4C7A-9965-44FBF9C1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3F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7AF4EB-631F-45E1-B8AB-6D15BB3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576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simulate spring cable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C57F57-D6D8-4D30-BA55-5D07F066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339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7E4CAB-FE1A-4232-9507-6B77B9F4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3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295B5C-4C04-4B68-B160-5BC79105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767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controls.update()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A5FCD-C194-4A3A-8DAF-9946A8E9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530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4D259-B89C-4B42-97A6-B85DA5F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86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3F"/>
          </a:solidFill>
          <a:ln xmlns:a="http://schemas.openxmlformats.org/drawingml/2006/main" w="9525">
            <a:solidFill>
              <a:srgbClr val="3852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965F32-4F0E-4B60-B938-4B928AC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958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renderer.render()</a:t>
            </a:r>
          </a:p>
        </p:txBody>
      </p:sp>
    </p:spTree>
    <p:extLst>
      <p:ext uri="{BB962C8B-B14F-4D97-AF65-F5344CB8AC3E}">
        <p14:creationId xmlns:p14="http://schemas.microsoft.com/office/powerpoint/2010/main" val="819942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35B3A-3778-43FA-AADD-B16BE0CB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3590C-70BE-4610-A14B-F59D45F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F16A7-7D89-4D2E-B933-D6F1ACC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D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DBFF"/>
                </a:solidFill>
                <a:latin typeface="Aptos"/>
                <a:ea typeface="Aptos"/>
                <a:cs typeface="Aptos"/>
              </a:rPr>
              <a:t>FINAL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DCA6E-20FA-417D-ADD4-9D7600F5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5ED"/>
                </a:solidFill>
                <a:latin typeface="Aptos Display"/>
                <a:ea typeface="Aptos Display"/>
                <a:cs typeface="Aptos Display"/>
              </a:rPr>
              <a:t>Concept coverage is strong; the remaining work is delivery and evidence packaging.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E5078-7570-47AC-98C3-DB9F75A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Sources: professor course slides, project source code, README, course concept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1C79B-99AA-406F-8D70-56A22339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890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9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98867-4042-4869-84BB-0606699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D4ADD-23DA-48AC-A291-0554A41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9525">
            <a:solidFill>
              <a:srgbClr val="5FD0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F08CB-437E-493E-8D14-AB20B0EA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Already strong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FECEE-5374-4264-BCEB-BCD0C7E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0">
            <a:solidFill>
              <a:srgbClr val="5FD0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7A9AC-FA3B-4C8F-AE87-FD113867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2E44B-66D3-458C-8C4E-59FB54F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Robot arms and technician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0AF16-4976-4108-8802-C8A26208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0">
            <a:solidFill>
              <a:srgbClr val="5FD0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A75A4-AE03-4763-82FB-9797F8F4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Textures and shading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1C58E-C07D-4C44-BDF7-4ECB6C1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Procedural maps plus custom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A351F-7AF6-4F7E-BC43-FAFFD8C4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0">
            <a:solidFill>
              <a:srgbClr val="5FD0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FA6C3-7B33-45AE-97E2-E0304692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Animations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026E2-17B1-4FB2-A666-954EFF93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Keyframes, procedural loops, 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03EF8-7F1A-4A41-A0B9-26BE03D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0A5"/>
          </a:solidFill>
          <a:ln xmlns:a="http://schemas.openxmlformats.org/drawingml/2006/main" w="0">
            <a:solidFill>
              <a:srgbClr val="5FD0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7403F-4765-4661-AAFE-AA1D764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65910-99D7-483F-9BC2-1C8F547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Controls, cameras, rooms, walk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D0E9A-F581-4F94-9905-BF13A8E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1DC3C-C749-4DF6-9A0B-782415F9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00DDB-EAF1-413D-9145-64868DB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Do before hand-in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DDA92-F690-4A98-9FFE-3026B64C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CD005-CC96-4441-B94A-1982C41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GitHub Pages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FF520-1587-4CC9-A711-57724B31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Verify fresh browser and add README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B4F5A-63C5-475A-8774-88535E1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E79FD-EFFC-4689-8F3C-F744F51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Final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E8B9F-BC3E-4F2E-BE2D-B18F231C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5-10 page technical/user manual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ADE67-2FF8-4091-AE39-9B7BB0C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EB02A-5E32-4046-848A-D3D5053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Visual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656B58-E544-483E-AA6C-6B391A9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Camera views, walk mode, intersections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348A86-3831-4205-A655-C36D4CE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B3131A-6CFC-4026-A64A-4E9251F5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05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Library packaging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84A8A9-6551-49AF-A13F-D5151CB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72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Vendor Three.js if required by professor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133C1-C98C-4A39-B304-DA98B70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9"/>
          </a:solidFill>
          <a:ln xmlns:a="http://schemas.openxmlformats.org/drawingml/2006/main" w="9525">
            <a:solidFill>
              <a:srgbClr val="3451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E3F5A-3B50-405F-9352-CBA83D1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9525">
            <a:solidFill>
              <a:srgbClr val="FF66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DE4337-EB66-4570-B5A8-C3A10A8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13"/>
                </a:solidFill>
                <a:latin typeface="Aptos"/>
                <a:ea typeface="Aptos"/>
                <a:cs typeface="Aptos"/>
              </a:rPr>
              <a:t>Say honestly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8C4B2-7408-4BF0-A9AF-8F8DE69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solidFill>
              <a:srgbClr val="FF665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23855-FD9F-423E-8B1E-F290B31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No imported animation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FE3F80-C637-4AD0-86BC-40C7B08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14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All motion is JavaScript-authored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2E5CA4-EE8A-4527-9D93-221C2FD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solidFill>
              <a:srgbClr val="FF66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065DA5-67E5-42F7-A51F-B4FB8B9C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No full ray tracing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D1E904-D384-44A2-A428-3178035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We use real-time rasterization and shadow maps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1018B8-17DA-46A7-9A9A-7E1683D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solidFill>
              <a:srgbClr val="FF665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F1AEC2-C376-4B4A-B29F-DB10CB4D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No full physics engine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650FA9-2E3A-4F87-941C-9CEA029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Small custom mass-spring simulation instead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63C2CE-574C-43E1-B251-36BE117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5C"/>
          </a:solidFill>
          <a:ln xmlns:a="http://schemas.openxmlformats.org/drawingml/2006/main" w="0">
            <a:solidFill>
              <a:srgbClr val="FF66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39C637-E08D-4095-BD79-4219498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05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5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5ED"/>
                </a:solidFill>
                <a:latin typeface="Aptos"/>
                <a:ea typeface="Aptos"/>
                <a:cs typeface="Aptos"/>
              </a:rPr>
              <a:t>No imported models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332F22-4A13-459C-9CB9-3057D32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F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FC3"/>
                </a:solidFill>
                <a:latin typeface="Aptos"/>
                <a:ea typeface="Aptos"/>
                <a:cs typeface="Aptos"/>
              </a:rPr>
              <a:t>Geometry is built procedurally in code</a:t>
            </a:r>
          </a:p>
        </p:txBody>
      </p:sp>
    </p:spTree>
    <p:extLst>
      <p:ext uri="{BB962C8B-B14F-4D97-AF65-F5344CB8AC3E}">
        <p14:creationId xmlns:p14="http://schemas.microsoft.com/office/powerpoint/2010/main" val="684259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2026-06-13T14:41:59.2050000Z</dcterms:created>
  <dcterms:modified xsi:type="dcterms:W3CDTF">2026-06-13T14:41:59.2050000Z</dcterms:modified>
</coreProperties>
</file>