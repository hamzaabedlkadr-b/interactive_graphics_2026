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0c272e5da48e8" /><Relationship Type="http://schemas.openxmlformats.org/officeDocument/2006/relationships/extended-properties" Target="/docProps/app.xml" Id="R5648082679e546eb" /><Relationship Type="http://schemas.openxmlformats.org/officeDocument/2006/relationships/officeDocument" Target="/ppt/presentation.xml" Id="R9d3203650990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20a041825491f"/>
  </p:sldMasterIdLst>
  <p:notesMasterIdLst>
    <p:notesMasterId xmlns:r="http://schemas.openxmlformats.org/officeDocument/2006/relationships" r:id="Re000fd8a79c84d7d"/>
  </p:notesMasterIdLst>
  <p:sldIdLst>
    <p:sldId xmlns:r="http://schemas.openxmlformats.org/officeDocument/2006/relationships" id="256" r:id="Rbe02021fd05e464f"/>
    <p:sldId xmlns:r="http://schemas.openxmlformats.org/officeDocument/2006/relationships" id="257" r:id="Rba91b0bc93b049f0"/>
    <p:sldId xmlns:r="http://schemas.openxmlformats.org/officeDocument/2006/relationships" id="258" r:id="R5947d9325d15443c"/>
    <p:sldId xmlns:r="http://schemas.openxmlformats.org/officeDocument/2006/relationships" id="259" r:id="R0d1a88178d8e4bfd"/>
    <p:sldId xmlns:r="http://schemas.openxmlformats.org/officeDocument/2006/relationships" id="260" r:id="R49a7d403a96f4b8a"/>
    <p:sldId xmlns:r="http://schemas.openxmlformats.org/officeDocument/2006/relationships" id="261" r:id="R7783aa6fc0a244eb"/>
    <p:sldId xmlns:r="http://schemas.openxmlformats.org/officeDocument/2006/relationships" id="262" r:id="R77455710300c4084"/>
    <p:sldId xmlns:r="http://schemas.openxmlformats.org/officeDocument/2006/relationships" id="263" r:id="Raf403a33def64db3"/>
    <p:sldId xmlns:r="http://schemas.openxmlformats.org/officeDocument/2006/relationships" id="264" r:id="R0ae14f61833640f6"/>
    <p:sldId xmlns:r="http://schemas.openxmlformats.org/officeDocument/2006/relationships" id="265" r:id="R4a6f774ba1d84a1e"/>
    <p:sldId xmlns:r="http://schemas.openxmlformats.org/officeDocument/2006/relationships" id="266" r:id="R9633a76785134b77"/>
    <p:sldId xmlns:r="http://schemas.openxmlformats.org/officeDocument/2006/relationships" id="267" r:id="R2a317614d9a649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18cf10a69f40fa" /><Relationship Type="http://schemas.openxmlformats.org/officeDocument/2006/relationships/slideMaster" Target="/ppt/slideMasters/slideMaster1.xml" Id="Rfba20a041825491f" /><Relationship Type="http://schemas.openxmlformats.org/officeDocument/2006/relationships/notesMaster" Target="/ppt/notesMasters/notesMaster1.xml" Id="Re000fd8a79c84d7d" /><Relationship Type="http://schemas.openxmlformats.org/officeDocument/2006/relationships/presProps" Target="/ppt/presProps.xml" Id="R0c1655f6d74b40e4" /><Relationship Type="http://schemas.openxmlformats.org/officeDocument/2006/relationships/viewProps" Target="/ppt/viewProps.xml" Id="R26fffc8342d84ab1" /><Relationship Type="http://schemas.openxmlformats.org/officeDocument/2006/relationships/tableStyles" Target="/ppt/tableStyles.xml" Id="R617f28b744334db1" /><Relationship Type="http://schemas.openxmlformats.org/officeDocument/2006/relationships/slide" Target="/ppt/slides/slide1.xml" Id="Rbe02021fd05e464f" /><Relationship Type="http://schemas.openxmlformats.org/officeDocument/2006/relationships/slide" Target="/ppt/slides/slide2.xml" Id="Rba91b0bc93b049f0" /><Relationship Type="http://schemas.openxmlformats.org/officeDocument/2006/relationships/slide" Target="/ppt/slides/slide3.xml" Id="R5947d9325d15443c" /><Relationship Type="http://schemas.openxmlformats.org/officeDocument/2006/relationships/slide" Target="/ppt/slides/slide4.xml" Id="R0d1a88178d8e4bfd" /><Relationship Type="http://schemas.openxmlformats.org/officeDocument/2006/relationships/slide" Target="/ppt/slides/slide5.xml" Id="R49a7d403a96f4b8a" /><Relationship Type="http://schemas.openxmlformats.org/officeDocument/2006/relationships/slide" Target="/ppt/slides/slide6.xml" Id="R7783aa6fc0a244eb" /><Relationship Type="http://schemas.openxmlformats.org/officeDocument/2006/relationships/slide" Target="/ppt/slides/slide7.xml" Id="R77455710300c4084" /><Relationship Type="http://schemas.openxmlformats.org/officeDocument/2006/relationships/slide" Target="/ppt/slides/slide8.xml" Id="Raf403a33def64db3" /><Relationship Type="http://schemas.openxmlformats.org/officeDocument/2006/relationships/slide" Target="/ppt/slides/slide9.xml" Id="R0ae14f61833640f6" /><Relationship Type="http://schemas.openxmlformats.org/officeDocument/2006/relationships/slide" Target="/ppt/slides/slide10.xml" Id="R4a6f774ba1d84a1e" /><Relationship Type="http://schemas.openxmlformats.org/officeDocument/2006/relationships/slide" Target="/ppt/slides/slide11.xml" Id="R9633a76785134b77" /><Relationship Type="http://schemas.openxmlformats.org/officeDocument/2006/relationships/slide" Target="/ppt/slides/slide12.xml" Id="R2a317614d9a649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e22ea028bf4b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36273940e4249" /><Relationship Type="http://schemas.openxmlformats.org/officeDocument/2006/relationships/notesMaster" Target="/ppt/notesMasters/notesMaster1.xml" Id="R6f3b6c46e912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57b54daa7454c" /><Relationship Type="http://schemas.openxmlformats.org/officeDocument/2006/relationships/notesMaster" Target="/ppt/notesMasters/notesMaster1.xml" Id="R42800877826641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4b1785d5ec426a" /><Relationship Type="http://schemas.openxmlformats.org/officeDocument/2006/relationships/notesMaster" Target="/ppt/notesMasters/notesMaster1.xml" Id="R525413753e1944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6ae58e207d4f1f" /><Relationship Type="http://schemas.openxmlformats.org/officeDocument/2006/relationships/notesMaster" Target="/ppt/notesMasters/notesMaster1.xml" Id="R81c3b0f9631f47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7f3db84c14bef" /><Relationship Type="http://schemas.openxmlformats.org/officeDocument/2006/relationships/notesMaster" Target="/ppt/notesMasters/notesMaster1.xml" Id="R6e44831d14fa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56a3994d814795" /><Relationship Type="http://schemas.openxmlformats.org/officeDocument/2006/relationships/notesMaster" Target="/ppt/notesMasters/notesMaster1.xml" Id="R34914280d97c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3bb7ebd7114953" /><Relationship Type="http://schemas.openxmlformats.org/officeDocument/2006/relationships/notesMaster" Target="/ppt/notesMasters/notesMaster1.xml" Id="R0894216c7d4d46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f72a41d54b4141" /><Relationship Type="http://schemas.openxmlformats.org/officeDocument/2006/relationships/notesMaster" Target="/ppt/notesMasters/notesMaster1.xml" Id="Rd4fcba7d6c7349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28a31f22bb42a2" /><Relationship Type="http://schemas.openxmlformats.org/officeDocument/2006/relationships/notesMaster" Target="/ppt/notesMasters/notesMaster1.xml" Id="R9cc1b3cb6ed84d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b3203e29a34959" /><Relationship Type="http://schemas.openxmlformats.org/officeDocument/2006/relationships/notesMaster" Target="/ppt/notesMasters/notesMaster1.xml" Id="R86e57d9cecdf48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9c2bc3acae49b7" /><Relationship Type="http://schemas.openxmlformats.org/officeDocument/2006/relationships/notesMaster" Target="/ppt/notesMasters/notesMaster1.xml" Id="R0fdb0183622448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c86dea813d441e" /><Relationship Type="http://schemas.openxmlformats.org/officeDocument/2006/relationships/notesMaster" Target="/ppt/notesMasters/notesMaster1.xml" Id="R4c0274573192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c52b0afe341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11fafbf584e34" /><Relationship Type="http://schemas.openxmlformats.org/officeDocument/2006/relationships/slideLayout" Target="/ppt/slideLayouts/slideLayout1.xml" Id="R8d3497754ecb41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497754ecb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17802e1d542cf" /><Relationship Type="http://schemas.openxmlformats.org/officeDocument/2006/relationships/image" Target="/ppt/media/image.png" Id="Rc7cfd4fe63054446" /><Relationship Type="http://schemas.openxmlformats.org/officeDocument/2006/relationships/notesSlide" Target="/ppt/notesSlides/notesSlide1.xml" Id="Rca6ea07d6c844f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e0ae206d446e0" /><Relationship Type="http://schemas.openxmlformats.org/officeDocument/2006/relationships/notesSlide" Target="/ppt/notesSlides/notesSlide2.xml" Id="R270b5e29024d49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7b55b656a4062" /><Relationship Type="http://schemas.openxmlformats.org/officeDocument/2006/relationships/notesSlide" Target="/ppt/notesSlides/notesSlide3.xml" Id="R7b43a48f652e45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a9166a4a04530" /><Relationship Type="http://schemas.openxmlformats.org/officeDocument/2006/relationships/notesSlide" Target="/ppt/notesSlides/notesSlide4.xml" Id="Rf47e9fa581dd47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a6d48681b4bfc" /><Relationship Type="http://schemas.openxmlformats.org/officeDocument/2006/relationships/notesSlide" Target="/ppt/notesSlides/notesSlide5.xml" Id="R220f66568fc44e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a05f45120467c" /><Relationship Type="http://schemas.openxmlformats.org/officeDocument/2006/relationships/notesSlide" Target="/ppt/notesSlides/notesSlide6.xml" Id="R518e09004fa54b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e1c0da60b4c53" /><Relationship Type="http://schemas.openxmlformats.org/officeDocument/2006/relationships/notesSlide" Target="/ppt/notesSlides/notesSlide7.xml" Id="R6eaf98114c1a4c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7748ad160433e" /><Relationship Type="http://schemas.openxmlformats.org/officeDocument/2006/relationships/notesSlide" Target="/ppt/notesSlides/notesSlide8.xml" Id="R2648f73d29cf4f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ced4cabae4c5e" /><Relationship Type="http://schemas.openxmlformats.org/officeDocument/2006/relationships/notesSlide" Target="/ppt/notesSlides/notesSlide9.xml" Id="R5206d0f43f0643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7e3f6eb144efd" /><Relationship Type="http://schemas.openxmlformats.org/officeDocument/2006/relationships/notesSlide" Target="/ppt/notesSlides/notesSlide10.xml" Id="R3088a7ef0b8b47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4f6a1361e4db1" /><Relationship Type="http://schemas.openxmlformats.org/officeDocument/2006/relationships/notesSlide" Target="/ppt/notesSlides/notesSlide11.xml" Id="Rb0e76ac8ce814a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f104ccfe41b7" /><Relationship Type="http://schemas.openxmlformats.org/officeDocument/2006/relationships/notesSlide" Target="/ppt/notesSlides/notesSlide12.xml" Id="Rae1324477cd941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2C592-E53C-4779-A14D-790B53CD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FA6DE-447B-48BA-9B43-F5E59A48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959AB-BC50-4BC1-830E-4EF91F0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BE3C4-18DB-4A73-9A6B-4B54FDB3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5397A-E724-40A6-A620-DA8C48EA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D51B2-7D26-483E-993E-6C049D66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COURSE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C1C9-B2F5-47AF-8DF8-E6B8F94E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The factory is built as a course-concept demo, not only a nice scene.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76CBE-F5B9-4E24-8D9A-FE22BC27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We mapped the professor's 21 lecture decks to concrete Three.js/WebGL evidence and added code-traceable examples for each concept family.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fd4fe63054446"/>
          <a:srcRect xmlns:a="http://schemas.openxmlformats.org/drawingml/2006/main" l="694" t="0" r="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14500"/>
            <a:ext cx="6762750" cy="3857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02EB3-D2A9-4B8D-BC7A-C6BAE59C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619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1C23B-E690-41DF-80D6-447175A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21 lecture decks mapped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49DED-31EB-4BFF-BD66-3CB6C933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BABF-A612-4B33-AC6F-18662AAC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Renderer, camera, rasterization, GPU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A2793-6EC6-43C5-BD28-86E3A3BE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41A4D-32F4-4587-8470-865C5356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Scene-graph transforms and articulated robots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BCCBE-B202-4EDE-A46D-7CBDB3EF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F5D0D-2327-4A08-A6EF-3DB9538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Manual mesh with UVs, indices, normals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83B14-EEF3-4562-AF50-B664B3B6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561C3-DE8F-4C07-A04B-8859DA0F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Procedural textures, PBR materials, custom shader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AAA3F-4D3F-48ED-916F-D98EB32E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711AB-F405-47D7-BA83-F9501CF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Keyframe and procedural animation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E14D0-5C4D-4299-9994-A6714F23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D6FC3-E29A-4269-9D89-1B26EDD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Mass-spring physics simulation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F4FC2-E24E-4383-A190-AB41AB86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ABEC4-DB86-4C60-852B-0C127B5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2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9F2EE"/>
                </a:solidFill>
                <a:latin typeface="Aptos"/>
                <a:ea typeface="Aptos"/>
                <a:cs typeface="Aptos"/>
              </a:rPr>
              <a:t>Honest boundary for ray tracing/path tracing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67DA4-BB8A-454D-809D-B7187784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7D126-FE08-4B7B-9158-D80DA322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0DD53-C187-46C4-BFE3-2FA088EE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B74CCB-6D61-415F-AEFB-57CADCCA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578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Approximated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9AFA3-1005-47FE-8A27-8CF7AAC9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02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57858-072A-4F24-BF48-090245E0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5787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Explained honestly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7DD2C1-3131-455A-94EA-08FBDC53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Deck update: each concept family now includes an example from the code with file/line evidence.</a:t>
            </a:r>
          </a:p>
        </p:txBody>
      </p:sp>
    </p:spTree>
    <p:extLst>
      <p:ext uri="{BB962C8B-B14F-4D97-AF65-F5344CB8AC3E}">
        <p14:creationId xmlns:p14="http://schemas.microsoft.com/office/powerpoint/2010/main" val="127207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68D75-73F8-45F7-86F1-35A6F5A8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5169-F578-4DC1-880B-65E3131B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5EF9F-1B59-48CF-8250-B7CC1D16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2ADA5-7B64-45F2-B455-7695B4F8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D166E-E2A1-41A7-A4AA-AF2FDD93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7C155-037F-4EC4-8CD5-C1933ED2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FULL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1BCE1-D42C-4A31-84FC-A26998AB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All 21 lecture topics are traceable to the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47BBA-BAD3-436B-85BF-BD615BED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The matrix is the professor-facing answer to: did we use the course material?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A843C-4B70-4328-88A1-ED2D5C9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D5B2F-AAAC-406C-9179-283F103B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01 Intro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D6CAB-29D7-4B20-A23F-E8B93C79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383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Full interactive scene and final project framing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D87A4-2E5B-4977-ADEB-91FA8860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README, project docs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098C4-86C4-4D77-90FE-6BDECA7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AD152-1F02-4A47-809F-04FA826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38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02 Math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55F17-3474-43AD-9976-FBBD6ECE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383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Vector3, sin/cos, lerp, clamp, normalized 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6B582-AA26-4FEA-BB93-696BBF09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478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src/main.js:2147, 2352-2365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D6945-76EC-4958-BF3A-0539DC0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CF121-7549-4E73-9DAD-E29C9FA8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38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03 Raster images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CE582-62DA-4F0A-80EE-BFB3CDBF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383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Canvas labels, procedural textures, opacity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15E5A-0A38-4618-BACD-27A8A33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src/main.js:105-367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7B707-879C-4D36-998C-7B76BCAF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A4BD2-55C3-4E22-805A-B5AC18ED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04 2D transforms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4ABD0-C6B2-4E85-80BD-BE08ECC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669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Rotated floor labels, UV repeat, animated texture offset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8F9D0-B6DA-4C6E-9035-9E740FBC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src/main.js:719-729, 2409-2410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F3E23-1915-4BD8-83A2-4BFB46F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907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6D59A-E6B8-4060-BC1B-7F4E30A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669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05 3D transforms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710B9-BC60-4963-AC88-DF715792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669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Scene graph groups, translation, rotation,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DC8A4-3926-496F-BC10-714EA18E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src/main.js:1672-1754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E69C8-E4AD-43B9-B447-47AB103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13D96-AA9B-4A3E-A721-A444C1E5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669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06 GPU/WebGL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ACF68-C230-4EC0-AFAE-96A7C62F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669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WebGLRenderer, render loop, canvas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8FEE7F-57CD-43BE-948B-4053272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765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src/main.js:5-10, 2576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F1B693-E63A-4BE2-8140-B1595A96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C61108-109A-4962-A972-E270C6CA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07 Surfaces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260DEE-CE74-4DBB-82FA-8DBD747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956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Primitive surfaces plus authored factory objects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66A4B-007D-4110-99A2-CE287211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src/main.js:542-581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93C9A2-F2AD-4C06-9141-E9DE53FB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194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1531FF-5631-44AA-A2C4-ED30C415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95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08 Triangle meshes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B21CEB-CDD6-4A55-BCF8-60575C5A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956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Manual BufferGeometry, indices, normals, wireframe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C861B2-2083-4AEB-804F-2501095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051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src/main.js:983-1068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2A1468-D073-4BD5-B891-369D60CF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C9F221-A15E-46C0-8125-5B4FDD86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95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09 Textures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35D8F9-2E2F-4A77-9140-1B54E367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956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CanvasTexture, wrap, repeat, UV mapping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23DB35-7587-460B-AE96-F0596EF3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051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src/main.js:105-185, 1008-1041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E250DF-099E-4E5F-94C4-50BDCEEC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480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B48C96-4700-4984-BB93-37E7174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10 GPU textures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8BCEE2-8694-427C-BE9A-7196691B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242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Textures bound to materials and shader sampler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B1601A-16B1-4E75-B111-38D004B2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src/main.js:432, 459-496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E3A900-8645-4652-8BEE-94E7970D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480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868026-4C19-4024-9B8B-7359811A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11 Shading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62ACA0-3945-432D-AA93-1E08941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242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PBR materials, emissive surfaces, custom shader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9B2129-4AB8-4BEE-946D-21DADB23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338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src/main.js:388-531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8BD951-FDA2-46BA-8286-7FE59E6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C7646C-2517-4201-90EA-8A96AF1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242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12 Shading transforms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D81F5E-A56A-46CE-B3AF-6F909DFE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242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Normals, view direction, computed normals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868950-8F96-4068-914E-DCB7CB71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src/main.js:492-496, 1042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A8F48E-9F12-4B83-BC6C-BCD3E8BE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10760A-CA25-411A-A1A5-E02A813F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13 Rendering equation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233107-B8D7-4232-81F8-27AF89F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52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PBR lighting approximation via Standard/Physical materials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625BC9-CE48-4BA2-A442-DEE811E6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src/main.js:388-531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1A198C-A484-4B13-8434-C495C267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767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6F5D23-6CF7-47CC-9305-EC77674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52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14 Rendering algorithms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D365C4-C0F6-4027-BBAC-AC12F167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52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Real-time rasterization, depth, shadow mapping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C93152-8B70-4E93-B60D-98F0C922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src/main.js:5-10, 2576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58B1D2-7681-4C77-B59D-12FF3F65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D65A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F40C8E-187E-4CD9-BD17-F5C33D9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52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5A4A"/>
                </a:solidFill>
                <a:latin typeface="Aptos"/>
                <a:ea typeface="Aptos"/>
                <a:cs typeface="Aptos"/>
              </a:rPr>
              <a:t>15 Ray tracing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B774B3-6286-4A78-8BF6-CBF8D16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52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Not implemented; explained as outside real-time WebGL scope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0A13E9-A083-413D-BF4E-0E49813F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slide 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347705-E080-4240-9C15-DFE27F6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28B489-9B95-4A40-8AEA-7B9D8066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16 Shadows/reflections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6BA7DE-5374-486F-B11B-6A640935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81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PCF shadow maps, glass/physical/specular materials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646400-9CBF-42AE-BC31-21D82985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src/main.js:7-8, 433-450, 1574-1608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A29542-E254-4323-BCDC-A25E85E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A640CF-4394-453D-B7F3-338FFFE3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815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17 Sampling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ABA7FF-9086-4C0B-872D-FB0C8A2C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81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Antialiasing, pixel ratio cap, texture filtering/repeat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E5226A-3875-4597-82F3-31AD2F5D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911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src/main.js:5-6, 105-185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93D517-9174-44A6-B8FC-9C1B0A99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B0C1E0-7DC7-4B08-B157-E3F9615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18 Animations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EACEE5-6D92-4B24-9EC9-0B1A4DD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81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Keyframes, easing, procedural updates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29D435-A1FE-4234-9049-96F528E3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9112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src/main.js:2164-2200, 2397-2576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A28105-E6CB-4460-A6C0-4F2A10C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F4C64F4-FED4-409E-BCCD-5CD3E17B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19 Physics animation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A7F387-3593-4B00-B808-221F5D02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102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Mass-spring cable with gravity, damping, collision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B69C98-53A0-4E57-A63E-7518DE1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src/main.js:1077-1172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C84941-06BC-4357-B70B-3D0BF0CD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340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D5CE53-5289-49D5-9986-091E31DE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102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20 Simulation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C26633-2863-4192-B5AB-EA4B0E1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102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State update loop for forces, particles, AGV/drone systems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1A94F6-4A91-4A3F-9624-C41A888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197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src/main.js:1126-1192, 2459-2552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734C57-D2FA-42BD-B79C-2D03E32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3402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489CF87-84A6-4DB6-BAA1-B138E667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102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21 Three.js final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75DD7C3-5E81-469A-95F8-8F97F8A4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102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Camera, controls, lights, materials, meshes, interaction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BF0404E-58F8-4BBA-B4A8-4D79FC47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9775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45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full project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2166C6-5658-4FD2-8CE1-3FAA44BB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Important wording: ray tracing/path tracing are not claimed as full implementations; they are compared against our real-time rasterization pipeline.</a:t>
            </a:r>
          </a:p>
        </p:txBody>
      </p:sp>
    </p:spTree>
    <p:extLst>
      <p:ext uri="{BB962C8B-B14F-4D97-AF65-F5344CB8AC3E}">
        <p14:creationId xmlns:p14="http://schemas.microsoft.com/office/powerpoint/2010/main" val="20126552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28E6C-FE30-4B17-B9B3-3D85D65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A52B5-DAE2-49D5-90CB-A5D0336B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4FE25-15A4-42C8-826E-028EB9F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046B8-254B-4029-8299-3432ADE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058CF-156C-46E2-B9E7-A13F8FC9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A004-6C73-4985-A6EA-295E2D04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RENDERER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53428-D4BC-4D9B-8B39-FB8709D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WebGL rasterization is visible from setup to the render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3B8B5-5785-4B94-A9DC-5813E8D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This covers the GPU pipeline, camera/projection, rendering algorithms, shadows, and sampling choices.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BBF78-98AE-45A5-BEA7-FA4FE1C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989B8-EE8D-4D8C-A5D3-13CCBB83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renderer = new THREE.WebGLRenderer({ canvas, antialias: true });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renderer.setPixelRatio(Math.min(window.devicePixelRatio, 2));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renderer.shadowMap.enabled = true;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renderer.shadowMap.type = THREE.PCFSoftShadowMap;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renderer.toneMapping = THREE.ACESFilmicToneMapping;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camera = new THREE.PerspectiveCamera(50, aspect, 0.1, 100);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function animate() {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requestAnimationFrame(animate);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renderer.render(scene, camera);</a:t>
            </a:r>
          </a:p>
          <a:p xmlns:a="http://schemas.openxmlformats.org/drawingml/2006/main">
            <a:pPr algn="l">
              <a:def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1F835-76FF-447E-A6D4-D7E5F22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68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src/main.js:5-16, 2397-2576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54D48-5A8F-46CA-A43F-10F4E5AF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104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49FC9-7FE6-40F3-9B97-9C3416D1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5D70E-7A51-4450-B861-FC200C10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JavaScript scene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E19B6-DA9F-4296-A557-F29D5DC5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83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Groups, meshes, materials, lights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50FE4-A0B2-4C3C-8F56-929B6EC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246221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4E5C4-0AE2-4708-BD79-5C1157D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85950"/>
            <a:ext cx="1104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28353-007B-4F3C-9C10-FB8DF830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859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9BDEE-272A-482F-80F2-A2B9BB03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002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Three.js renderer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72C01-E01B-420B-ACF5-666FD54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66950"/>
            <a:ext cx="83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Builds WebGL draw calls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64DF1-9D15-4579-BA24-8FB1F5C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25" y="246221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2B452-4091-49D0-B37B-A5639FB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104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0733A-8BF9-4252-A908-4E03C578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2FDA1-ED74-419C-A306-5112BF3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GPU 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AEFFB-9B96-4686-9B36-AE69B261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83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Vertices -&gt; fragments -&gt; depth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CA049-10B3-41D3-B210-FF712C1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46221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5F20D-FE45-4525-8DD6-183D539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85950"/>
            <a:ext cx="1104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03BC0-DB97-4023-8551-24878E63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859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233B1-281A-4383-A630-44EB9D0C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002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Raster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17EF6-DA06-4497-A67C-DF36ACF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266950"/>
            <a:ext cx="83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Canvas pixels in the browser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2A3BC-B4D1-406E-9511-D6D4DF5D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3984F-834E-4343-A2A5-68DACBE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B77CF0-7C29-4EF8-AE8B-C3CD3BB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Sampling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47BAB-CBA9-4D2C-9AF2-24AC9553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Antialiasing is enabled and device pixel ratio is capped, so quality is balanced against browser performance.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A5F85C-2FBD-484F-8725-F2DCE35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1950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311747-28E6-4E7A-A698-6D3E5C79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19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22716-9130-4B2D-B16C-3E7DB35C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Shadow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0DD746-1471-40A5-8486-B1BB48F5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PCF soft shadow maps are enabled globally, then lights and meshes opt into cast/receive shadows.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3349A0-1131-43E3-B599-4677DED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81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Presenter line: the project uses the standard real-time WebGL rasterization path; it does not replace Three.js with a custom renderer.</a:t>
            </a:r>
          </a:p>
        </p:txBody>
      </p:sp>
    </p:spTree>
    <p:extLst>
      <p:ext uri="{BB962C8B-B14F-4D97-AF65-F5344CB8AC3E}">
        <p14:creationId xmlns:p14="http://schemas.microsoft.com/office/powerpoint/2010/main" val="959031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7C88ED-C8E1-4790-ABE1-44C3CD78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5B9CE-FA59-40F4-912B-F05E2AE9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069F3-F4AF-4023-A9B9-9399E5B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F97C3-BF03-44BD-B934-6013532E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F592A-670E-4A6B-AA4A-3ABDB75E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78B15-F276-43F9-8AC9-7A9CCAF6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TRANSFORMS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33C51-F6C5-4C1D-944C-976B1431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Scene-graph hierarchy turns matrix math into visible robot 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441D4-F4DF-45B2-A3FD-DCDC5C5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The code uses parent-child groups for local coordinate systems, then animates rotations on the joints.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109B3-4F04-4DEF-B519-4CC0997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048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8F07C-E6BB-4929-9ABA-A2C3817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7815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robot = new THREE.Group();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robot.position.set(...position);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robot.rotation.y = rotationY;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scene.add(robot);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robot.add(waistPivot);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waistPivot.add(shoulderPivot);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shoulderPivot.add(upperArm);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upperArm.add(elbowPivot);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forearm.add(wristPivot);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robotRig.waistPivot.rotation.y = pose.waist;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robotRig.elbowPivot.rotation.z = pose.elbow;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DEFA1-DE7F-4816-A62C-F29AB8E6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78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src/main.js:1672-1754, 2194-2200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AD387-BAB5-4781-BAA2-DC9ED1E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2DB7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6FC51-CB25-4F48-B7AA-2C3763CE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robot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309AF-376F-44E2-8CC0-72D9AE6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2124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DBD18-51BF-41E3-8EE8-66570D5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E0A5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0FD5B-2B16-4709-8702-FFF381F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waistPivot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36DC0-91AD-46FF-B4E9-BCDE5A0C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2867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D9CED-919D-46F8-92DE-F8456D4D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4267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77872-1994-452C-951C-C11779E1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147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shoulderPivot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95979-4498-4BB1-92B5-D341D577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36099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F1721-AB61-44CD-B037-711CC785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4F9F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5879E-8989-48C4-BFEA-C4313EE0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upperArm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82135-CCED-4A0A-9200-353BCB0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43529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089A3-C56E-4488-8C07-CE82AB79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65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2658C-F8F0-4B9F-951B-4A75B6C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006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elbow/wrist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F5517-F11A-4EC1-B20D-129C3DCB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504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28400-50D8-4A60-B817-985E10E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781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forward = new THREE.Vector3(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-Math.sin(state.walkYaw), 0, -Math.cos(state.walkYaw)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camera.position.add(movement);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camera.position.x = THREE.MathUtils.clamp(...);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E34E3-48AC-4580-96E4-7471BCC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78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src/main.js:2352-2365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4E871-82BB-45E7-B1BA-92374B4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657FC-B162-43CE-82E9-CCE8504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19FB03-76F6-43FC-8F4E-1AC6E9CB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002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Camera transform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3C960-7F0E-4555-A0B2-3A3B1CFA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257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PerspectiveCamera plus OrbitControls and room presets demonstrate view/projection control.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B61FC-25C6-4C87-A0C0-7356886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9B960-2786-4EA9-AC20-4584D12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DA603-C1A4-4A14-AF3F-6F3E976D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81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2D transform echo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9D366-A8F1-4008-BB34-D8B96F9B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1257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Floor labels and texture offsets show rotations/repeated coordinates on surfaces.</a:t>
            </a:r>
          </a:p>
        </p:txBody>
      </p:sp>
    </p:spTree>
    <p:extLst>
      <p:ext uri="{BB962C8B-B14F-4D97-AF65-F5344CB8AC3E}">
        <p14:creationId xmlns:p14="http://schemas.microsoft.com/office/powerpoint/2010/main" val="10281062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5FBB9-C276-4D4F-A8E5-A4E7531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9F9FE-EA19-48C0-80FC-E4D649A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03B04-7969-4FF3-B2D2-D471C022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D060E-C8E5-43E1-9EF0-8159F37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DE2F8-2E07-4E1B-9439-AF95073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22065-92F2-4A07-87CD-CE278E07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MESHES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873D5-E9F5-4FD9-B6B5-0557BD4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The TRI MESH exhibit makes vertices, UVs, indices, and normals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72477-B93C-4C76-A29D-78D1BFA8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This is our direct answer to the Surfaces and Triangular Meshes lectures.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2BE6C-6B8F-450F-8822-8AB806C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334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945E4-48D8-4840-96C6-88ADB35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0673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geometry = new THREE.BufferGeometry();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geometry.setAttribute(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"position",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new THREE.Float32BufferAttribute(positions, 3)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geometry.setAttribute(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"uv",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new THREE.Float32BufferAttribute(uvs, 2)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geometry.setIndex(indices);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geometry.computeVertexNormals();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prototype.add(mesh);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prototype.add(wire);</a:t>
            </a:r>
          </a:p>
          <a:p xmlns:a="http://schemas.openxmlformats.org/drawingml/2006/main">
            <a:pPr algn="l">
              <a:def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07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prototype.add(new THREE.LineSegments(normalGeometry, ...));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BD479-80AF-4B67-91F4-1FE86E68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506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src/main.js:983-1068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B8B69-D273-4BE6-A193-1DE86E84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07606">
            <a:off x="7239000" y="2114550"/>
            <a:ext cx="17709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4ACFE-7454-4009-9F6A-38C052D9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30025">
            <a:off x="8972550" y="1752600"/>
            <a:ext cx="18269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4FF82-B56C-4579-9B8D-DA43AE8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93535">
            <a:off x="7239000" y="2114550"/>
            <a:ext cx="307933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23651-49F4-4F92-BAA4-B8736988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85518">
            <a:off x="7239000" y="2114550"/>
            <a:ext cx="228631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C6375-887E-4BE7-B67A-2074803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72317">
            <a:off x="8153400" y="4210050"/>
            <a:ext cx="224119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19893-DF51-4855-8165-F3D59F3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78457">
            <a:off x="9810750" y="4933950"/>
            <a:ext cx="180100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3C7F1-05D3-4995-B50D-CDE76166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15689">
            <a:off x="8153400" y="4210050"/>
            <a:ext cx="18085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04FB7-FB8C-42F9-9BE2-BA7CA3D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66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FB597-7087-4D43-B70D-7FEC91CF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FDF8A-0CAE-4EC7-BA67-289D5A3B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04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5994A-F132-4567-849C-88EC374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C2683-4A9D-425F-8787-5032FB6B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14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83AC2-DDBB-44DB-B2DC-57538CF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FD41C-D0D5-4917-A157-C012820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62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D96C5-ADF3-4820-A633-008FB815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1C449-6D8B-4041-B85F-4D963C4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886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590E-3B41-4D49-B457-27C1D59E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38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0E8FF6-AA36-47EC-B13E-9A21363C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78252">
            <a:off x="8972550" y="1757363"/>
            <a:ext cx="7241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AD1D0C-C7A6-4495-8694-CC7BF98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764040">
            <a:off x="8153400" y="4214813"/>
            <a:ext cx="69028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227BD-13CF-458D-B03D-F688F3CF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7212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VISUAL PROOF IN SCENE: VERTEX MARKERS + WIREFRAME + NORMAL RODS</a:t>
            </a:r>
          </a:p>
        </p:txBody>
      </p:sp>
    </p:spTree>
    <p:extLst>
      <p:ext uri="{BB962C8B-B14F-4D97-AF65-F5344CB8AC3E}">
        <p14:creationId xmlns:p14="http://schemas.microsoft.com/office/powerpoint/2010/main" val="11580688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74E90-A0D5-4A37-ADA4-06FB9A4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6A75E-6477-4D59-802A-348294BF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8B9EE-6CFA-43A8-AA59-696906F6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EACC5-EE76-4B73-8264-33690756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7A6A6-559E-4E16-9C5F-5E398186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ABFFD-89A2-49EF-94D9-9BFD356A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TEXTURES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C48E0-2D6D-4164-824A-E0B2A97D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Procedural raster images become GPU textures and animated UV coordinates.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99F2B-22C9-4924-B978-F851195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This connects raster images, UV mapping, textures on GPU, and 2D texture-coordinate 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133AD-C990-4760-AC67-BD4A07D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429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7458-8495-4427-AF42-AE4E8A48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62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texture = new THREE.CanvasTexture(canvasTexture);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texture.wrapS = THREE.RepeatWrapping;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texture.wrapT = THREE.RepeatWrapping;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texture.repeat.set(4, 1);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texture.colorSpace = THREE.SRGBColorSpace;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geometry.setAttribute(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"uv",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new THREE.Float32BufferAttribute(uvs, 2)</a:t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91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beltTexture.offset.x = -machineElapsed * 0.58;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FF290-E16A-432E-A831-910E4682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516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src/main.js:105-185, 1008-1041, 2409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018F4-4B7F-4508-85FB-F02D90B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81150"/>
            <a:ext cx="4629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2C7E2-9AA7-48AE-87D4-9E893F9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D791D-E04A-49D0-9AEC-32BB876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Floor/walls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A4D78-3A37-4C64-B18A-7320F9D7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procedural scuffs, repeated surface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ACCD2-2008-4518-B9BD-0F890272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288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src/main.js:372-379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675F4-98C4-4B78-B4BD-8F3D6FA2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224088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DA0F9-B1B5-4A71-B098-5C4FCBA1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323AE-E7CE-4295-A417-DE1D496B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Conveyor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0E7F9-32EF-4FA8-9418-6F84B288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animated belt texture offset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4BB35-C2A0-48EC-9DBB-E5DB632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431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src/main.js:2409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5D958-DBB7-4A1A-8849-2D2E7A9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738438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A3562-658B-41B3-B924-96A64C6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DF428-2714-4DB9-A8E8-378A7064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Hazard stripes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041AA-5F66-448D-B4B9-1764EEA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repeat wrapping and time offset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415D1-F691-475F-9BB6-A806FE1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575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src/main.js:124-128, 2410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4F2F8-43A6-44E6-AA6F-AEF2269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52788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9494F-A4C4-462F-AAE2-A95D1E75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2E69F-6415-45D2-B6B6-9547921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52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Technician fabric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01A80-B856-463A-86E9-3CDDD107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texture + roughness map on material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4AEFB-5BA2-49AA-AE96-4788253B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718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src/main.js:501-507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7ED7E-1155-44DC-BDBE-403C8C2A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767138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AF4D8-356C-4B54-BA12-BB1BFC3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E4A87-38DD-40C2-B9F1-4D0EF261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Manual mesh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B86B6-8CE9-4AA7-B83B-7AA41FD7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UV buffer proves texture mapping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178A7E-B8D6-4DFF-91DD-A9F4DD4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862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defRPr>
            </a:pPr>
            <a:r>
              <a:rPr sz="660" b="0">
                <a:solidFill>
                  <a:srgbClr val="59636F"/>
                </a:solidFill>
                <a:latin typeface="Aptos Mono"/>
                <a:ea typeface="Aptos Mono"/>
                <a:cs typeface="Aptos Mono"/>
              </a:rPr>
              <a:t>src/main.js:1008-1041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652EE-428C-4E29-A8BD-56F9139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1053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Presenter line: our textures are generated from 2D canvas rasters, then sampled by WebGL through Three.js materials; the mesh exhibit proves UV coordinates directly.</a:t>
            </a:r>
          </a:p>
        </p:txBody>
      </p:sp>
    </p:spTree>
    <p:extLst>
      <p:ext uri="{BB962C8B-B14F-4D97-AF65-F5344CB8AC3E}">
        <p14:creationId xmlns:p14="http://schemas.microsoft.com/office/powerpoint/2010/main" val="7398324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E5899-4679-4B29-B42B-651A348E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A16A2-F473-4D30-A0C3-F60BA5F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8AFAC-81C5-4E6E-9AB0-3A2116C2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68105-8825-44E8-B99A-F58D3C87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B05CE-130E-420C-95BD-59013992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359F6-3709-4B6F-BC9A-639FC558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SHADING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076BC-796B-4876-BCB1-E7474EA2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Materials, lights, shadows, normals, and a custom shader are all visible in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15C97-0986-45AD-8C8D-5AEAFFC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This is where the lighting, shading, rendering-equation, normal-transform, and shadow lectures meet the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39B64-22DB-4B2E-9FFD-76FE02D6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0D2C5-82EB-4F48-91DB-64FD4630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686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operatorJacket: new THREE.ShaderMaterial({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uniforms: { ... },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vertexShader: `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  vNormal = normalize(normalMatrix * normal);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`,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fragmentShader: `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  vec3 viewDirection = normalize(cameraPosition - vWorldPosition);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  float diffuse = max(dot(normalDirection, lightDirection), 0.0);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  float rim = pow(1.0 - max(dot(normalDirection, viewDirection), 0.0), 2.6);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`</a:t>
            </a:r>
          </a:p>
          <a:p xmlns:a="http://schemas.openxmlformats.org/drawingml/2006/main">
            <a:pPr algn="l">
              <a:def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0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});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85682-B42F-407E-B6AB-9992700E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468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src/main.js:459-496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5EFC1-41C3-43FC-91DC-152162BE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EA927-2D94-40FD-863C-77CB3926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sun = new THREE.DirectionalLight(...);</a:t>
            </a:r>
          </a:p>
          <a:p xmlns:a="http://schemas.openxmlformats.org/drawingml/2006/main">
            <a:pPr algn="l">
              <a:def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sun.castShadow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lampLight = new THREE.SpotLight(...);</a:t>
            </a:r>
          </a:p>
          <a:p xmlns:a="http://schemas.openxmlformats.org/drawingml/2006/main">
            <a:pPr algn="l">
              <a:def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lampLight.castShadow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mesh.castShadow = true;</a:t>
            </a:r>
          </a:p>
          <a:p xmlns:a="http://schemas.openxmlformats.org/drawingml/2006/main">
            <a:pPr algn="l">
              <a:def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8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mesh.receiveShadow = true;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574D8-A654-4412-90A2-A5564BA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68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src/main.js:536-537, 1572-1608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0BA3B-8D96-41F3-9241-C91EDFB3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329EF-B29D-45A9-84B4-B45FD65B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CB862-26A4-4DCC-A3E3-C5FC57CC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PBR materials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5ED09-97E5-4B10-849C-223FAF6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MeshStandardMaterial and MeshPhysicalMaterial encode roughness, metalness, glass, and emissive surfaces.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4A26D-3DFB-4C83-8241-6AFFE341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328E0-0FB9-4247-B4B5-5E94D8B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7F9A4-D22F-4CC7-8254-A3BD1304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Normal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1222F-490E-48C3-9C55-8F4B8EDE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Manual mesh normals plus shader normalMatrix show normal handling after transforms.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A7022-D5BA-4EE5-B79E-E0B0D518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886A4-EC7A-4E69-B6BB-7047C17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266B3-F953-4707-A313-C4CC71ED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Lights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B404C-B07B-45C2-A43F-51DE108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Hemisphere, directional, point, and spot lights create layered illumination.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52D3F-B779-4371-BF93-2DD40BD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B5E51-E224-45E4-8F86-38309A0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666E86-E204-4E9A-92A6-BF67DCD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861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Shadows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F3FBA-6C03-4253-9AEA-B094564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5285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PCFSoftShadowMap plus cast/receive flags create real-time shadow evidence.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33B25-E68A-4974-9F8A-3E80FF4E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Rendering-equation link: Three.js PBR materials approximate light transport in real time rather than solving the full integral manually.</a:t>
            </a:r>
          </a:p>
        </p:txBody>
      </p:sp>
    </p:spTree>
    <p:extLst>
      <p:ext uri="{BB962C8B-B14F-4D97-AF65-F5344CB8AC3E}">
        <p14:creationId xmlns:p14="http://schemas.microsoft.com/office/powerpoint/2010/main" val="11783788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6B92F-A837-4136-BEC0-F83928E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51DA1-EF4F-4F96-BEE2-A535A44E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8F69B-0D9A-4896-A8E6-3AC1B93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EAF96-3D2D-4931-8C36-9B603B8C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877A7-2CA2-4F63-947D-E02B4FBC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ECB4C-37F7-474F-A8DA-F67EE7E8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ANIMATION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27A51-768F-4918-A668-91C99E9F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The scene combines keyframes, easing, and procedural update 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223E0-B7E9-4CCC-88B1-50060949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pick/place motion is keyframed; drones, AGV, doors, conveyor, lights, and technician motion are time-based.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653E5-ED57-4D6D-AEE8-FAC6A21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095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C8216-19B9-43FD-ACC2-0B963D74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291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ROBOT_CYCLE_DURATION = 8.4;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keyframes = [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{ at: 0, waist: -0.58, shoulder: -0.48, elbow: 1.38 },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{ at: 1.95, waist: -0.94, shoulder: -0.70, claw: 0.13 },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{ at: 5.8, waist: -3.34, shoulder: -0.70, claw: 0.42 },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{ at: 8.4, waist: -0.58, shoulder: -0.48, elbow: 1.38 },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robotRig.waistPivot.rotation.y = pose.waist;</a:t>
            </a:r>
          </a:p>
          <a:p xmlns:a="http://schemas.openxmlformats.org/drawingml/2006/main">
            <a:pPr algn="l">
              <a:def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robotRig.elbowPivot.rotation.z = pose.elbow;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177F8-C5E6-4B8E-A34A-5055B4C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829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src/main.js:58, 2164-2200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71489-3F3D-4272-A816-F1871AF8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176463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4D7FC-1309-4EEC-8F4C-537A0F4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05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1E4F1-4DED-4ABF-B153-3A348FB5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0.0s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1F30F-6111-45C6-B23F-0CC7D21E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05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14B0E-090E-4471-A74F-6EB6169D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1.95s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C7B71-EF1B-4FE0-BC7D-2AC1F75F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05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2809B-A4C1-4915-86E1-804150F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5.8s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89C49-8798-4FAC-9BCC-0D7E433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105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401C6-A693-417C-80EB-F630B593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8.4s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514CE-7585-443A-99F7-46831F0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71E04-D785-4468-A208-D7F68450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FA047-DE82-4F32-A772-7C33317F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requestAnimationFrame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CC5B5-D0AD-45E1-8821-A423B6D8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1828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The whole scene advances every browser frame using delta time from THREE.Clock.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A9803-A388-4515-AC0A-D5DC3D4B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5D22A-4863-493A-A3ED-F9ECC2D1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4C700-0F43-4D4F-860D-D0779AEF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Procedural motion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58E34-5B98-4182-96B1-D5B5FBE6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828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Conveyor offsets, drone patrol, AGV path, doors, scan rings, and lights are calculated from elapsed time.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09BE7-64BF-4484-A4C9-A49215A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0153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B8194D-D372-452F-99FF-E8F69D58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988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function animate() {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requestAnimationFrame(animate);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const delta = clock.getDelta();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updateAgv(machineElapsed);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updateSlidingDoors(delta);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animateTechnician(technician, elapsed);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updateMassSpringCable(springCable, state.running ? delta * state.speed : 0, elapsed);</a:t>
            </a:r>
          </a:p>
          <a:p xmlns:a="http://schemas.openxmlformats.org/drawingml/2006/main">
            <a:pPr algn="l">
              <a:def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8FEE27-638E-4B9D-BECC-1D303FF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988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src/main.js:2397-2552</a:t>
            </a:r>
          </a:p>
        </p:txBody>
      </p:sp>
    </p:spTree>
    <p:extLst>
      <p:ext uri="{BB962C8B-B14F-4D97-AF65-F5344CB8AC3E}">
        <p14:creationId xmlns:p14="http://schemas.microsoft.com/office/powerpoint/2010/main" val="4415902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47C83-C962-463D-BE5E-57E6E9A8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2C776-B196-480D-91C1-2393B348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4C2A5-37F1-44D8-AC5F-EBBE3F80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A70AE-17CD-4D7D-BF13-D53812F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3E51A-F61A-4FEF-B244-3AC619AF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F2D06-120D-42D4-B63F-B922583E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PHYSICS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34CA8-03A0-4DB5-AA75-5CD18BA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The SPRING SIM cable is a small custom physics simulation.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2515C-9CED-4ECA-844B-2C48AA3B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It demonstrates particles, velocities, forces, springs, damping, integration, wind, and collision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2E8DC-5666-45DC-A183-E6616182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0083C-2939-4C55-9A96-1AE46D62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067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gravity = new THREE.Vector3(0, -3.4, 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particle.force.addScaledVector(gravity, cable.userData.mass);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relativeVelocity = new THREE.Vector3()</a:t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.subVectors(b.velocity, a.velocity);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particle.velocity.addScaledVector(acceleration, step);</a:t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particle.velocity.multiplyScalar(0.992);</a:t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particle.position.addScaledVector(particle.velocity, step);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if (particle.position.y &lt; cable.userData.floorY) {</a:t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particle.velocity.y *= -0.28;</a:t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  particle.velocity.x *= 0.8;</a:t>
            </a:r>
          </a:p>
          <a:p xmlns:a="http://schemas.openxmlformats.org/drawingml/2006/main">
            <a:pPr algn="l">
              <a:def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7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E9714-0BEB-488B-8D42-8649E14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506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src/main.js:1077-1172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50A2C-A073-4FF0-A832-AB6CB27F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82784-54D8-4008-BD9D-AEA1A76D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24970">
            <a:off x="7239000" y="1681163"/>
            <a:ext cx="7358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AC600-1C41-4353-B74D-8E37FB6F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DC877-9D34-4726-90B9-8F0D36AB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03581">
            <a:off x="7505700" y="2366963"/>
            <a:ext cx="8012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6E33A-A0B5-46D9-9C4E-8C33574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90AB5-BD63-4EA4-A365-F807493D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87806">
            <a:off x="7124700" y="3071813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7204E-5AC0-450D-ACC4-A797A14F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C16E3-F0BE-4FB1-A4CF-6108A1B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81530">
            <a:off x="7639050" y="3757613"/>
            <a:ext cx="8279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C6160-D722-42EA-ABAB-66E00C23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19050">
            <a:solidFill>
              <a:srgbClr val="F6F0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EEF36-9C87-4AA9-B846-0D02E36A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15200" y="4514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F85DE-6E06-4C22-A320-6DB34B0B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fixed top particle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D2298-F974-4E6A-9190-7F9F8C49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482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sensor follows final particle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E3100-9096-4D3E-B592-2300FCB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B32E2-2AE2-4CAF-ABD8-EB5999D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6C20D-595B-4E7B-9E1C-DE35DBF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Integrator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8583B-232E-4ED0-9FF4-CC745C16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05100"/>
            <a:ext cx="1828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Semi-implicit Euler style update: force -&gt; acceleration -&gt; velocity -&gt; position.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E7D50D-026A-4C6F-A837-559961D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ECA85-12A3-4510-ADF0-FC2EB70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1742C-9CBF-4F53-AD48-48138BD7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Collision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CA800-C003-40FB-957D-4E69B452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1828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A floor constraint flips/damps velocity when a particle falls below floorY.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B7A26-C30B-42F4-81E3-F5047756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015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Honest scope: this is not a full rigid-body engine, cloth solver, or fluid simulation; it is a focused mass-spring example that fits the browser scene.</a:t>
            </a:r>
          </a:p>
        </p:txBody>
      </p:sp>
    </p:spTree>
    <p:extLst>
      <p:ext uri="{BB962C8B-B14F-4D97-AF65-F5344CB8AC3E}">
        <p14:creationId xmlns:p14="http://schemas.microsoft.com/office/powerpoint/2010/main" val="4429374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14526-DEB8-4E7B-817F-598B585A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A8A9D-D0BC-4AB0-A2FD-0A7C5278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66A19-A34F-44DD-985C-F4AD3EE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7BE61-E306-4510-857A-730B5763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C4913-720D-436B-868D-E719C61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021ED-A0EA-4658-9628-DD72C2DE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ADVANCED RENDERING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67825-86D5-4BBD-8962-C675B90B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We explain ray tracing and path tracing without pretending we implemented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F36CE-F1D1-4BF7-BB66-7B68F962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The project uses real-time rasterization, shadow maps, and PBR approximations because it must remain interactive in the 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FC5CB-3AFB-4385-B169-8A440BF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2DB7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39B64-E355-45AF-A8B9-84243006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E6ADD-10A9-4A04-8F91-A2AD4F0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Implemented directly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96262-3A16-4687-B356-6B69947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A0150-80DE-4378-A414-8D983F81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WebGLRenderer raster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75342-2884-4FC4-B898-A2D2D749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F2021-7E6F-4960-96D7-12BCD5D4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PCF soft shadow maps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82523-8E52-48D1-97BE-9CC6B1FD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CBF59-F4AC-443E-A4A2-422B7437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PBR materials and custom shader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D727B-4186-4F4B-902D-94D37BD3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603FC-23B5-4FD7-B4DF-76F327AB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Texture sampling in materials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68CBB-6C1C-4EE8-A03F-61C6B09D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E0A5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0DCBF-5314-4664-B8A1-9EE0BB5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31214-3353-4CFD-8F41-00211E2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Real-time approximation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83667-12D9-4B1C-BB8E-237C416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33920-3711-4A91-ABFD-C68CDE1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Rendering equation through Three.js lighting/material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F0223-DF7A-4384-885F-19B817A6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94A06-814A-43B9-BEA6-8F2E5183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Reflection-like response via roughness, metalness, glass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494CC4-137E-4311-A5D3-4B5871E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1AD1C-46B1-4020-957C-F01181A0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Sampling via antialiasing and texture filtering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986F62-7B87-4335-9F82-60FAA8F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65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C2326-9C70-4FA1-BF5A-448BB198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D087A-6A40-4538-BC76-D1FEF733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full implementation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E062D-6E7D-43A7-9FF9-885AFF9A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6704A7-5939-4622-8D8F-411D9F5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No custom ray tracer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26F45-0D3E-44CF-B73B-0E2A674E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8E1F76-755D-46DA-9583-DD9B8371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No Monte Carlo path tracer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85C08-F536-4B69-9F99-2F7ACD8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0060ED-90DF-4DA2-BBA5-318CDB03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No full global illumination solver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35EF24-CD36-4112-803A-FDC00C0C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E38B2-C6A6-405E-9548-931FCC9B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No full rigid-body/cloth/fluid engine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9FAE74-25C5-43DD-A4F3-E636AB61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704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18E6DF-39BD-4581-9E11-712B7BA4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678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8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renderer.shadowMap.type = THREE.PCFSoftShadowMap;</a:t>
            </a:r>
          </a:p>
          <a:p xmlns:a="http://schemas.openxmlformats.org/drawingml/2006/main">
            <a:pPr algn="l">
              <a:defRPr sz="78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8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const glass = new THREE.MeshPhysicalMaterial({ transparent: true, roughness: 0.02 });</a:t>
            </a:r>
          </a:p>
          <a:p xmlns:a="http://schemas.openxmlformats.org/drawingml/2006/main">
            <a:pPr algn="l">
              <a:defRPr sz="780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780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renderer.render(scene, camera);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9C21A6-D7C9-4BAC-8A4C-6ADD6BAC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678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src/main.js:7-8, 433-450, 2576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2C2662-F79A-4E46-9905-CA41F09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Presenter line: the ray tracing lecture helps us explain what our renderer is not doing, and why rasterization is the correct choice for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0439563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61EA8-AD0A-4A22-A493-8D803CA5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7A84-75DC-4094-A216-F3193A52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F289-37CC-4FC4-89B8-3F7912D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37E26-2608-4BB1-8525-75BFDF49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416E8-62D3-482C-9007-AA05CFE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DA32E-4B23-4290-B1CC-4B297F5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INTERACTION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02B14-8067-41D5-8836-4E0524B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The final app is controllable, inspectable, and requirement-ready.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703CE-C8A0-41AA-A1BB-4C6210B3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The project requirements ask for user interaction, lights/textures, hierarchical objects, and authored animations; the code exposes all of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9E41D-D6EA-42F7-9FB5-06BE713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048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8BA96-5B3B-466B-98DE-8034B366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781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&lt;button id="toggle-animation"&gt;Pause&lt;/button&gt;</a:t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&lt;button id="toggle-night"&gt;Night&lt;/button&gt;</a:t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&lt;button id="toggle-drone"&gt;Drone Off&lt;/button&gt;</a:t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&lt;button id="toggle-walk"&gt;Walk Mode&lt;/button&gt;</a:t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&lt;input id="speed-control" type="range" ... /&gt;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toggleNight.addEventListener("click", () =&gt; { ... });</a:t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speedControl.addEventListener("input", () =&gt; { ... });</a:t>
            </a:r>
          </a:p>
          <a:p xmlns:a="http://schemas.openxmlformats.org/drawingml/2006/main">
            <a:pPr algn="l">
              <a:def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EAF2F4"/>
                </a:solidFill>
                <a:latin typeface="Aptos Mono"/>
                <a:ea typeface="Aptos Mono"/>
                <a:cs typeface="Aptos Mono"/>
              </a:rPr>
              <a:t>window.addEventListener("keydown", (event) =&gt; { ... });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1F717-1F27-4089-95D2-2B4500C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78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9C7CC"/>
                </a:solidFill>
                <a:latin typeface="Aptos Mono"/>
                <a:ea typeface="Aptos Mono"/>
                <a:cs typeface="Aptos Mono"/>
              </a:rPr>
              <a:t>index.html:42-59, src/main.js:1982-2143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E04DD-6013-458E-9BEE-A10BA79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0066C-A04C-4141-ACCD-99B6474D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27AD1-10C4-4E62-97E0-6A12438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716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Hierarchical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E91B2-AB85-4A47-BD26-27E3183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arm, technician, drone, AGV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3F629-0B5A-4B9A-BD02-8F43625F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84A76-BE57-41D3-90DD-B359233E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CE248-8305-4872-87D0-438FCD62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Lighting/textures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7E913-4409-4605-8412-28F98B8C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PBR materials, CanvasTexture, shadows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5E79E-D9DB-4F44-BA0A-1DBAEAE0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42000-3CB4-4715-A1D8-55905F96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2D50D-C7A6-48A6-8913-535028EB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480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 interaction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A3B1A-1A41-403F-907C-5893AAE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14725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buttons, range slider, room map, walk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49961-50A2-4AEF-A771-4ABF9B1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337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4519D-F9B0-4C23-A53F-900F434F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337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A63C0-4757-46E8-9A18-974F5CF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480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Animations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9C94BC-B5DA-4AEA-B3B3-2D6F5C9C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14725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keyframes, conveyor, drone, spring sim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4B413-A599-4D55-A6FD-D7D7B5BD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Submission angle: the presentation can now point from each requirement to both a visible object in the scene and a code location.</a:t>
            </a:r>
          </a:p>
        </p:txBody>
      </p:sp>
    </p:spTree>
    <p:extLst>
      <p:ext uri="{BB962C8B-B14F-4D97-AF65-F5344CB8AC3E}">
        <p14:creationId xmlns:p14="http://schemas.microsoft.com/office/powerpoint/2010/main" val="18570553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E11AA-37BD-40C3-ABDD-D08981C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D4DF5-651A-4B42-A1A3-B51286C7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2A8C3-1785-4358-8988-076DA723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69444-7E26-473D-B151-AB180EB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Robot Factory Assembly Line - course concept evidence from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D22BF-D7B0-4368-9888-8CDB4880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865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36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70EC2-721D-4373-ACB6-45D6B5B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D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D72"/>
                </a:solidFill>
                <a:latin typeface="Aptos"/>
                <a:ea typeface="Aptos"/>
                <a:cs typeface="Aptos"/>
              </a:rPr>
              <a:t>FINAL WORDING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BEE0C-E864-48F6-9790-B16E365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We used almost everything from class where it belongs in a real-time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AD79E-C76E-4645-AF63-ABD1978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This is the clean summary to say in the presentation.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76A64-D5A4-4CAF-BFB0-D17713F2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287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2B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637AE-DB28-434A-995A-24F88F52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Our project implements the course concepts that fit an interactive WebGL scene: transformations, scene hierarchy, surfaces, triangle meshes, UV textures, GPU rendering, lighting, shading, shadows, animation, interaction, and a focused physics simulation. For advanced topics such as ray tracing and path tracing, we explain the concept and contrast it with our real-time rasterization pipeline rather than claiming a fake implementation.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449D5-8342-44DB-A1F3-53A73835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4B836-94E0-4DE0-801C-E8E401C5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195F2-0C65-49D3-9451-20EA1DE0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6ADC3-5A4B-4835-A3ED-EA67D6A3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686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Meshes, transforms, textures, shader, lights, shadows, animation, UI, spring simulation.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9BEDD-C87D-4BF4-BADE-711F2169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2D643-EA28-48A1-B4AE-BB80C9C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11588-432A-42CB-9865-D872F3D0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815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Approximated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F96F2-80D0-48DE-A8DB-153BC8E3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48200"/>
            <a:ext cx="2686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Rendering equation, reflections/specular response, sampling and filtering via Three.js/WebGL.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0E7F6-C6A0-4C7F-97F7-BBE057FF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672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B799D-8A99-435F-A3B7-DFF1F02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672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D7F03-52A2-40F8-8C51-27F25E98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Explained carefully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861AF-9737-4457-AEAA-FF7749D1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48200"/>
            <a:ext cx="2686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6F"/>
                </a:solidFill>
                <a:latin typeface="Aptos"/>
                <a:ea typeface="Aptos"/>
                <a:cs typeface="Aptos"/>
              </a:rPr>
              <a:t>No full ray tracer, path tracer, global illumination solver, full rigid-body engine, cloth, or fluids.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7D4FC-FF3C-4F85-A54E-9793BEFB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Backup reference file for the report: COURSE_CONCEPT_MAP.md. Main evidence file: src/main.js.</a:t>
            </a:r>
          </a:p>
        </p:txBody>
      </p:sp>
    </p:spTree>
    <p:extLst>
      <p:ext uri="{BB962C8B-B14F-4D97-AF65-F5344CB8AC3E}">
        <p14:creationId xmlns:p14="http://schemas.microsoft.com/office/powerpoint/2010/main" val="1467005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2026-06-13T15:57:22.3870000Z</dcterms:created>
  <dcterms:modified xsi:type="dcterms:W3CDTF">2026-06-13T15:57:22.3870000Z</dcterms:modified>
</coreProperties>
</file>